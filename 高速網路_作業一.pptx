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4BD597-4D66-465D-BC78-4DDB14EF8E0F}"/>
              </a:ext>
            </a:extLst>
          </p:cNvPr>
          <p:cNvSpPr>
            <a:spLocks noGrp="1"/>
          </p:cNvSpPr>
          <p:nvPr/>
        </p:nvSpPr>
        <p:spPr>
          <a:xfrm>
            <a:off x="904875" y="324855"/>
            <a:ext cx="10382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zh-TW" altLang="en-US" sz="195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問題描述：在 </a:t>
            </a:r>
            <a:r>
              <a:rPr lang="en-US" altLang="zh-TW" sz="195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IEEE 802.11n Wi-Fi </a:t>
            </a:r>
            <a:r>
              <a:rPr lang="zh-TW" altLang="en-US" sz="195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網路中，觀察不同負載與競爭程度下的 </a:t>
            </a:r>
            <a:r>
              <a:rPr lang="en-US" altLang="zh-TW" sz="1950" b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Throughput</a:t>
            </a:r>
            <a:r>
              <a:rPr lang="zh-TW" altLang="en-US" sz="1950" b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。</a:t>
            </a:r>
            <a:endParaRPr lang="zh-TW" altLang="en-US" sz="1950" b="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/>
            </a:endParaRPr>
          </a:p>
          <a:p>
            <a:pPr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sz="195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FE0F77C-F575-4065-8426-88475937AFB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1182540"/>
                <a:ext cx="10191750" cy="287294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defRPr sz="2025" b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lang="zh-TW" altLang="en-US" sz="195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系統參數包含：</a:t>
                </a:r>
              </a:p>
              <a:p>
                <a:pPr lvl="1">
                  <a:defRPr sz="2025" b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US" altLang="zh-TW" sz="195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1. Channel Bandwidth</a:t>
                </a:r>
                <a:r>
                  <a:rPr lang="zh-TW" altLang="en-US" sz="195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 </a:t>
                </a:r>
                <a:r>
                  <a:rPr lang="en-US" altLang="zh-TW" sz="195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(20 MHz)</a:t>
                </a:r>
              </a:p>
              <a:p>
                <a:pPr lvl="1">
                  <a:defRPr sz="2025" b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US" altLang="zh-TW" sz="195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2. SIFS / DIFS</a:t>
                </a:r>
                <a:r>
                  <a:rPr lang="zh-TW" altLang="en-US" sz="195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、</a:t>
                </a:r>
                <a:r>
                  <a:rPr lang="en-US" altLang="zh-TW" sz="195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PLCP Length</a:t>
                </a:r>
              </a:p>
              <a:p>
                <a:pPr lvl="1">
                  <a:defRPr sz="2025" b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US" altLang="zh-TW" sz="200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3. Modulation Coding Scheme (MCS)</a:t>
                </a:r>
                <a:endParaRPr lang="en-US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/>
                </a:endParaRPr>
              </a:p>
              <a:p>
                <a:pPr lvl="1">
                  <a:defRPr sz="2025" b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US" altLang="zh-TW" sz="200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4.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Minimal Contention Window Size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a:rPr lang="en-US" altLang="zh-TW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(</m:t>
                    </m:r>
                    <m:sSub>
                      <m:sSubPr>
                        <m:ctrlPr>
                          <a:rPr lang="ar-AE" altLang="zh-TW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TW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W</m:t>
                        </m:r>
                      </m:e>
                      <m:sub>
                        <m:r>
                          <a:rPr lang="zh-TW" altLang="ar-AE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𝑚</m:t>
                        </m:r>
                        <m:r>
                          <a:rPr lang="en-US" altLang="zh-TW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)</a:t>
                </a:r>
                <a:endParaRPr lang="ar-AE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/>
                </a:endParaRPr>
              </a:p>
              <a:p>
                <a:pPr lvl="1">
                  <a:defRPr sz="2025" b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5</a:t>
                </a:r>
                <a:r>
                  <a:rPr lang="en-US" altLang="zh-TW" sz="200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. Data Length (L bytes)</a:t>
                </a:r>
                <a:endParaRPr lang="en-US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/>
                </a:endParaRPr>
              </a:p>
              <a:p>
                <a:pPr lvl="1">
                  <a:defRPr sz="2025" b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6</a:t>
                </a:r>
                <a:r>
                  <a:rPr lang="en-US" altLang="zh-TW" sz="200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. Number of STAs</a:t>
                </a:r>
                <a:endParaRPr lang="en-US" altLang="zh-TW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/>
                </a:endParaRPr>
              </a:p>
              <a:p>
                <a:pPr lvl="1">
                  <a:defRPr sz="2025" b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7</a:t>
                </a:r>
                <a:r>
                  <a:rPr lang="en-US" altLang="zh-TW" sz="200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. Arrival Rate (</a:t>
                </a:r>
                <a:r>
                  <a:rPr lang="el-GR" altLang="zh-TW" sz="200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λ)</a:t>
                </a:r>
                <a:endParaRPr lang="en-US" altLang="zh-TW" sz="2000" b="0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/>
                </a:endParaRPr>
              </a:p>
              <a:p>
                <a:pPr lvl="1">
                  <a:defRPr sz="2025" b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US" altLang="zh-TW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8. </a:t>
                </a:r>
                <a:r>
                  <a:rPr lang="en-US" altLang="zh-TW" sz="180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/>
                  </a:rPr>
                  <a:t>RTS/CTS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FE0F77C-F575-4065-8426-88475937A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1182540"/>
                <a:ext cx="10191750" cy="2872945"/>
              </a:xfrm>
              <a:prstGeom prst="rect">
                <a:avLst/>
              </a:prstGeom>
              <a:blipFill>
                <a:blip r:embed="rId3"/>
                <a:stretch>
                  <a:fillRect l="-598" t="-1062" b="-169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DBD76E7-BA00-4671-8774-67F7FCC6AEF4}"/>
              </a:ext>
            </a:extLst>
          </p:cNvPr>
          <p:cNvSpPr>
            <a:spLocks noGrp="1"/>
          </p:cNvSpPr>
          <p:nvPr/>
        </p:nvSpPr>
        <p:spPr>
          <a:xfrm>
            <a:off x="809625" y="4073024"/>
            <a:ext cx="10001250" cy="154326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zh-TW" altLang="en-US" sz="2025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主要調整參數</a:t>
            </a:r>
            <a:r>
              <a:rPr sz="2025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：</a:t>
            </a:r>
            <a:endParaRPr lang="en-US" sz="2025" b="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/>
            </a:endParaRPr>
          </a:p>
          <a:p>
            <a:pPr lvl="1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TW" sz="200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• STA = 5</a:t>
            </a:r>
            <a:r>
              <a:rPr lang="zh-TW" altLang="en-US" sz="200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、</a:t>
            </a:r>
            <a:r>
              <a:rPr lang="en-US" altLang="zh-TW" sz="200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20</a:t>
            </a:r>
          </a:p>
          <a:p>
            <a:pPr lvl="1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TW" sz="200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• Arrival Rate = 200</a:t>
            </a:r>
            <a:r>
              <a:rPr lang="zh-TW" altLang="en-US" sz="200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、</a:t>
            </a:r>
            <a:r>
              <a:rPr lang="en-US" altLang="zh-TW" sz="200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800 packets/s</a:t>
            </a:r>
            <a:r>
              <a:rPr lang="zh-TW" altLang="en-US" sz="200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（每個 </a:t>
            </a:r>
            <a:r>
              <a:rPr lang="en-US" altLang="zh-TW" sz="200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STA</a:t>
            </a:r>
            <a:r>
              <a:rPr lang="zh-TW" altLang="en-US" sz="200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）</a:t>
            </a:r>
            <a:endParaRPr lang="en-US" altLang="zh-TW" sz="2000" b="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/>
            </a:endParaRPr>
          </a:p>
          <a:p>
            <a:pPr lvl="1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TW" sz="200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• RTS/CTS (enable/disable)</a:t>
            </a:r>
          </a:p>
          <a:p>
            <a:pPr lvl="1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zh-TW" altLang="en-US" sz="2000" b="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/>
            </a:endParaRPr>
          </a:p>
          <a:p>
            <a:pPr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sz="2025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8CD011-75F3-45AC-BCCA-816084F70824}"/>
              </a:ext>
            </a:extLst>
          </p:cNvPr>
          <p:cNvSpPr>
            <a:spLocks noGrp="1"/>
          </p:cNvSpPr>
          <p:nvPr/>
        </p:nvSpPr>
        <p:spPr>
          <a:xfrm>
            <a:off x="809625" y="5653232"/>
            <a:ext cx="10287000" cy="105236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zh-TW" altLang="en-US" sz="195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分析目標</a:t>
            </a:r>
            <a:r>
              <a:rPr sz="195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：</a:t>
            </a:r>
            <a:endParaRPr lang="en-US" sz="1950" b="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/>
            </a:endParaRPr>
          </a:p>
          <a:p>
            <a:pPr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繪製</a:t>
            </a:r>
            <a:r>
              <a:rPr sz="195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 Throughput vs. Arrival </a:t>
            </a:r>
            <a:r>
              <a:rPr sz="1950" b="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Rate，依</a:t>
            </a:r>
            <a:r>
              <a:rPr sz="195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 STA </a:t>
            </a:r>
            <a:r>
              <a:rPr sz="1950" b="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數量分組比較</a:t>
            </a:r>
            <a:r>
              <a:rPr sz="195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，</a:t>
            </a:r>
            <a:r>
              <a:rPr lang="zh-TW" altLang="en-US" sz="195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並</a:t>
            </a:r>
            <a:r>
              <a:rPr sz="1950" b="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說明</a:t>
            </a:r>
            <a:r>
              <a:rPr lang="zh-TW" altLang="en-US" sz="195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觀察到的</a:t>
            </a:r>
            <a:r>
              <a:rPr sz="1950" b="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變化與現象</a:t>
            </a:r>
            <a:r>
              <a:rPr sz="1950" b="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437242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137</Words>
  <Application>Microsoft Office PowerPoint</Application>
  <DocSecurity>0</DocSecurity>
  <PresentationFormat>寬螢幕</PresentationFormat>
  <Paragraphs>16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Cambria Math</vt:lpstr>
      <vt:lpstr>Times New Roman</vt:lpstr>
      <vt:lpstr>ChatGPT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62</cp:revision>
  <dcterms:created xsi:type="dcterms:W3CDTF">2026-09-27T14:36:48Z</dcterms:created>
  <dcterms:modified xsi:type="dcterms:W3CDTF">2026-10-06T12:25:20Z</dcterms:modified>
</cp:coreProperties>
</file>